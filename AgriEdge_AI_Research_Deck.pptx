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9B-4C14-A25C-9FD81DAA3985}"/>
              </c:ext>
            </c:extLst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9B-4C14-A25C-9FD81DAA3985}"/>
              </c:ext>
            </c:extLst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9B-4C14-A25C-9FD81DAA398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9B-4C14-A25C-9FD81DAA398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9B-4C14-A25C-9FD81DAA398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9B-4C14-A25C-9FD81DAA398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Train 14,436</c:v>
                </c:pt>
                <c:pt idx="1">
                  <c:v>Val 3,477</c:v>
                </c:pt>
                <c:pt idx="2">
                  <c:v>Test 2,710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14436</c:v>
                </c:pt>
                <c:pt idx="1">
                  <c:v>3477</c:v>
                </c:pt>
                <c:pt idx="2">
                  <c:v>2710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9B-4C14-A25C-9FD81DAA39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000000"/>
                </a:solidFill>
                <a:latin typeface="Arial"/>
              </a:rPr>
              <a:t>Test support per class (N=2,710)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support</c:v>
                </c:pt>
              </c:strCache>
            </c:strRef>
          </c:tx>
          <c:spPr>
            <a:solidFill>
              <a:srgbClr val="1F6F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PepBS</c:v>
                </c:pt>
                <c:pt idx="1">
                  <c:v>PepH</c:v>
                </c:pt>
                <c:pt idx="2">
                  <c:v>PotEB</c:v>
                </c:pt>
                <c:pt idx="3">
                  <c:v>PotLB</c:v>
                </c:pt>
                <c:pt idx="4">
                  <c:v>PotH</c:v>
                </c:pt>
                <c:pt idx="5">
                  <c:v>TomBS</c:v>
                </c:pt>
                <c:pt idx="6">
                  <c:v>TomEB</c:v>
                </c:pt>
                <c:pt idx="7">
                  <c:v>TomLB</c:v>
                </c:pt>
                <c:pt idx="8">
                  <c:v>LMold</c:v>
                </c:pt>
                <c:pt idx="9">
                  <c:v>Sept</c:v>
                </c:pt>
                <c:pt idx="10">
                  <c:v>Mites</c:v>
                </c:pt>
                <c:pt idx="11">
                  <c:v>Target</c:v>
                </c:pt>
                <c:pt idx="12">
                  <c:v>YLCV</c:v>
                </c:pt>
                <c:pt idx="13">
                  <c:v>ToMV</c:v>
                </c:pt>
                <c:pt idx="14">
                  <c:v>TomH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88</c:v>
                </c:pt>
                <c:pt idx="1">
                  <c:v>222</c:v>
                </c:pt>
                <c:pt idx="2">
                  <c:v>150</c:v>
                </c:pt>
                <c:pt idx="3">
                  <c:v>150</c:v>
                </c:pt>
                <c:pt idx="4">
                  <c:v>23</c:v>
                </c:pt>
                <c:pt idx="5">
                  <c:v>263</c:v>
                </c:pt>
                <c:pt idx="6">
                  <c:v>150</c:v>
                </c:pt>
                <c:pt idx="7">
                  <c:v>263</c:v>
                </c:pt>
                <c:pt idx="8">
                  <c:v>143</c:v>
                </c:pt>
                <c:pt idx="9">
                  <c:v>224</c:v>
                </c:pt>
                <c:pt idx="10">
                  <c:v>251</c:v>
                </c:pt>
                <c:pt idx="11">
                  <c:v>210</c:v>
                </c:pt>
                <c:pt idx="12">
                  <c:v>367</c:v>
                </c:pt>
                <c:pt idx="13">
                  <c:v>56</c:v>
                </c:pt>
                <c:pt idx="1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14-4FF6-920C-5D821C9034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 (teacher)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Pep Bact</c:v>
                </c:pt>
                <c:pt idx="1">
                  <c:v>Pep Healthy</c:v>
                </c:pt>
                <c:pt idx="2">
                  <c:v>Pot Early</c:v>
                </c:pt>
                <c:pt idx="3">
                  <c:v>Pot Late</c:v>
                </c:pt>
                <c:pt idx="4">
                  <c:v>Pot Healthy</c:v>
                </c:pt>
                <c:pt idx="5">
                  <c:v>Tom Bact</c:v>
                </c:pt>
                <c:pt idx="6">
                  <c:v>Tom Early</c:v>
                </c:pt>
                <c:pt idx="7">
                  <c:v>Tom Late</c:v>
                </c:pt>
                <c:pt idx="8">
                  <c:v>Leaf Mold</c:v>
                </c:pt>
                <c:pt idx="9">
                  <c:v>Septoria</c:v>
                </c:pt>
                <c:pt idx="10">
                  <c:v>Spider Mites</c:v>
                </c:pt>
                <c:pt idx="11">
                  <c:v>Target Spot</c:v>
                </c:pt>
                <c:pt idx="12">
                  <c:v>YLCV</c:v>
                </c:pt>
                <c:pt idx="13">
                  <c:v>Mosaic</c:v>
                </c:pt>
                <c:pt idx="14">
                  <c:v>Tom Healthy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</c:v>
                </c:pt>
                <c:pt idx="4">
                  <c:v>93</c:v>
                </c:pt>
                <c:pt idx="5">
                  <c:v>99.4</c:v>
                </c:pt>
                <c:pt idx="6">
                  <c:v>97.4</c:v>
                </c:pt>
                <c:pt idx="7">
                  <c:v>98.9</c:v>
                </c:pt>
                <c:pt idx="8">
                  <c:v>99.7</c:v>
                </c:pt>
                <c:pt idx="9">
                  <c:v>98.7</c:v>
                </c:pt>
                <c:pt idx="10">
                  <c:v>99.4</c:v>
                </c:pt>
                <c:pt idx="11">
                  <c:v>97.9</c:v>
                </c:pt>
                <c:pt idx="12">
                  <c:v>99.9</c:v>
                </c:pt>
                <c:pt idx="13">
                  <c:v>99.1</c:v>
                </c:pt>
                <c:pt idx="14">
                  <c:v>99.3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0-409C-900E-4CC360E33B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B (MCU student)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Pep Bact</c:v>
                </c:pt>
                <c:pt idx="1">
                  <c:v>Pep Healthy</c:v>
                </c:pt>
                <c:pt idx="2">
                  <c:v>Pot Early</c:v>
                </c:pt>
                <c:pt idx="3">
                  <c:v>Pot Late</c:v>
                </c:pt>
                <c:pt idx="4">
                  <c:v>Pot Healthy</c:v>
                </c:pt>
                <c:pt idx="5">
                  <c:v>Tom Bact</c:v>
                </c:pt>
                <c:pt idx="6">
                  <c:v>Tom Early</c:v>
                </c:pt>
                <c:pt idx="7">
                  <c:v>Tom Late</c:v>
                </c:pt>
                <c:pt idx="8">
                  <c:v>Leaf Mold</c:v>
                </c:pt>
                <c:pt idx="9">
                  <c:v>Septoria</c:v>
                </c:pt>
                <c:pt idx="10">
                  <c:v>Spider Mites</c:v>
                </c:pt>
                <c:pt idx="11">
                  <c:v>Target Spot</c:v>
                </c:pt>
                <c:pt idx="12">
                  <c:v>YLCV</c:v>
                </c:pt>
                <c:pt idx="13">
                  <c:v>Mosaic</c:v>
                </c:pt>
                <c:pt idx="14">
                  <c:v>Tom Healthy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97.2</c:v>
                </c:pt>
                <c:pt idx="1">
                  <c:v>99.6</c:v>
                </c:pt>
                <c:pt idx="2">
                  <c:v>99</c:v>
                </c:pt>
                <c:pt idx="3">
                  <c:v>96</c:v>
                </c:pt>
                <c:pt idx="4">
                  <c:v>95.5</c:v>
                </c:pt>
                <c:pt idx="5">
                  <c:v>98.7</c:v>
                </c:pt>
                <c:pt idx="6">
                  <c:v>91.7</c:v>
                </c:pt>
                <c:pt idx="7">
                  <c:v>96</c:v>
                </c:pt>
                <c:pt idx="8">
                  <c:v>97.5</c:v>
                </c:pt>
                <c:pt idx="9">
                  <c:v>97.1</c:v>
                </c:pt>
                <c:pt idx="10">
                  <c:v>95.6</c:v>
                </c:pt>
                <c:pt idx="11">
                  <c:v>90.5</c:v>
                </c:pt>
                <c:pt idx="12">
                  <c:v>99.2</c:v>
                </c:pt>
                <c:pt idx="13">
                  <c:v>98.3</c:v>
                </c:pt>
                <c:pt idx="14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B0-409C-900E-4CC360E33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1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05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RENESAS EK-RA8P1  |  ARM CORTEX-M85 + ETHOS-U55  |  µT-KERNEL 3.0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AgriEdge AI Bot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863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dual-stage edge AI kernel and software stack that diagnoses crop leaf disease and decides Treat vs. Prune, running entirely on a Renesas EK-RA8P1 microcontroller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23A33"/>
          </a:solidFill>
          <a:ln w="12700">
            <a:solidFill>
              <a:srgbClr val="1F6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508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99.15%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545586"/>
            <a:ext cx="1417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top-1 (ConvNeXt-Tiny)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6272" y="3017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23A33"/>
          </a:solidFill>
          <a:ln w="12700">
            <a:solidFill>
              <a:srgbClr val="1F6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176272" y="3063240"/>
            <a:ext cx="1508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96.86%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3545586"/>
            <a:ext cx="1417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student top-1 (MobileNetV2-0.5)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03904" y="3017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23A33"/>
          </a:solidFill>
          <a:ln w="12700">
            <a:solidFill>
              <a:srgbClr val="1F6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03904" y="3063240"/>
            <a:ext cx="1508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39.4×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849624" y="3545586"/>
            <a:ext cx="1417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reduction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31536" y="3017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23A33"/>
          </a:solidFill>
          <a:ln w="12700">
            <a:solidFill>
              <a:srgbClr val="1F6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31536" y="3063240"/>
            <a:ext cx="1508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77256" y="3545586"/>
            <a:ext cx="1417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operator offload (65/65)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59168" y="3017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23A33"/>
          </a:solidFill>
          <a:ln w="12700">
            <a:solidFill>
              <a:srgbClr val="1F6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059168" y="3063240"/>
            <a:ext cx="1508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 ms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3545586"/>
            <a:ext cx="1417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inference on Ethos-U55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Atanu Jana, Snehal Panda, Jagan Swain, Manoswini Nahak, Arpita Sahu  |  Mentor: Dr. Sandipan Mallik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PlantVillage Solanaceae subset (pepper, potato, tomato), 20,623 images, 15 classes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 &amp; MISSION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AgriEdge: late detection costs smallholders their crop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2/21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023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in India (e.g. Odisha) lose crops to late disease detection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precision-ag systems need internet and cost too much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scouting cannot cover every plant, every day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63240"/>
            <a:ext cx="40233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kernel- and software-level solution: real-time diagnosis and triage on a single microcontroller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 with on-device AI, no cloud or internet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Hardware-agnostic core that can be extended to a full robot later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scope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32588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325880"/>
            <a:ext cx="28346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µT-Kernel 3.0 real-time tasks, semaphores and event flags on the RA8P1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19456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194560"/>
            <a:ext cx="28346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15-class pathology + energy OOD gate on the Ethos-U55 NPU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06324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063240"/>
            <a:ext cx="28346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lesion age D drives a Treat / Prune / None software decision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9319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931920"/>
            <a:ext cx="28346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interfaces can later host sensors, motion and actuators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SYSTEM 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software pipeline on the dev kit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3/21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through the kernel and dual-stage AI cascade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camera frame into line buffer (FSP)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38528" y="166878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48840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SensorTask: frame ready, signals semaphore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30168" y="166878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40480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AITask wakes on semid_ai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21808" y="166878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532120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15-class + energy OOD gate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13448" y="166878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223760" y="12801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5B6B65"/>
          </a:solidFill>
          <a:ln>
            <a:solidFill>
              <a:srgbClr val="5B6B6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&gt; 0 ?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lesion age D (days)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38528" y="299466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148840" y="26060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 &lt;= 5 Treat, else Prune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30168" y="299466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40480" y="26060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ControlTask applies CMD_*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21808" y="299466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532120" y="26060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UITask: LCD + UART telemetry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13448" y="2994660"/>
            <a:ext cx="19202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223760" y="26060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Healthy: CMD_NONE, log status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03920" y="2057400"/>
            <a:ext cx="0" cy="54864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on the kit alone: flash the .elf from e² studio, point the kit camera at printed leaf test cards, read class, D and decision on the LCD and timestamped task traces on SCI8 UART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outputs are software commands (CMD_NONE / CMD_TREAT / CMD_PRUNE); sensors, motion and actuators can be attached later behind the same task interfaces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offline: no cloud, no external hardware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TARGET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platform: the Renesas EK-RA8P1 dev kit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4/21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Renesas RA8P1, Cortex-M85 @ 1 GHz (Armv8.1-M)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and FSP system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Ethos-U55, 256 MAC/cycle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INT8 operator offload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 KiB high-speed 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peak arena 402.1 KiB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 KiB dual-bank 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786.3 KiB L1 INT8 weights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 camera (parallel DVP / MIPI CSI via FSP)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capture into 16-byte aligned line buffers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 LCD panel (GLCDC)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Class, D and decision telemetry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SCI8 serial UART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Timestamped task-trace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e² studio, Renesas FSP, TFLM, Arm Vela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flash, compile model for NPU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external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capture, inference and triage on the 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SOFTWARE STACK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embedded software stack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5/21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layer: Autonomous triage (Treat / Prune / None), telemetry, logging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73352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Micro C++ API: static arenas, MicroMutableOpResolver, model cascade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95144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Ethos-U core driver (Vela output): 100% INT8 operators on NPU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16936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Renesas FSP: BSP clocks, camera capture (VIN), display (GLCDC), SCI8 UART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38728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µT-Kernel 3.0 RTOS: scheduler, semaphores (tk_cre_sem), event flags (TWF_BITCLR)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6052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0B2B26"/>
          </a:solidFill>
          <a:ln>
            <a:solidFill>
              <a:srgbClr val="0B2B26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EK-RA8P1 hardware: Cortex-M85, Ethos-U55, 2 MB SRAM, camera interface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325880"/>
            <a:ext cx="2834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boundary: ai_inference.cpp exposes extern "C" ai_init() and ai_run_inference() to µT-Kernel C tasks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Zero-copy: camera line buffers map into the 16-byte aligned input tensor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malloc/free: all tensors static, no fragmentation on long runs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offline: no cloud or Wi-Fi dependency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REAL-TIME KERNEL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µT-Kernel 3.0 multitasking engine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6/21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(lower = higher)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semid_ai when frame ready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tk_wai_sem(semid_ai); wakes ControlTask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tk_slp_tsk; applies decision 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tk_slp_tsk; updates LCD + UART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880360"/>
            <a:ext cx="1219200" cy="640080"/>
          </a:xfrm>
          <a:prstGeom prst="roundRect">
            <a:avLst>
              <a:gd name="adj" fmla="val 11429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SensorTask: frame ready</a:t>
            </a:r>
            <a:endParaRPr lang="en-US" sz="900" dirty="0"/>
          </a:p>
        </p:txBody>
      </p:sp>
      <p:sp>
        <p:nvSpPr>
          <p:cNvPr id="5" name="Shape 4"/>
          <p:cNvSpPr/>
          <p:nvPr/>
        </p:nvSpPr>
        <p:spPr>
          <a:xfrm>
            <a:off x="1694688" y="320040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859280" y="2880360"/>
            <a:ext cx="1219200" cy="640080"/>
          </a:xfrm>
          <a:prstGeom prst="roundRect">
            <a:avLst>
              <a:gd name="adj" fmla="val 11429"/>
            </a:avLst>
          </a:prstGeom>
          <a:solidFill>
            <a:srgbClr val="5B6B65"/>
          </a:solidFill>
          <a:ln>
            <a:solidFill>
              <a:srgbClr val="5B6B6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tk_sig_sem(semid_ai)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096768" y="320040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261360" y="2880360"/>
            <a:ext cx="1219200" cy="640080"/>
          </a:xfrm>
          <a:prstGeom prst="roundRect">
            <a:avLst>
              <a:gd name="adj" fmla="val 11429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AITask: dual inference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498848" y="320040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663440" y="2880360"/>
            <a:ext cx="1219200" cy="640080"/>
          </a:xfrm>
          <a:prstGeom prst="roundRect">
            <a:avLst>
              <a:gd name="adj" fmla="val 11429"/>
            </a:avLst>
          </a:prstGeom>
          <a:solidFill>
            <a:srgbClr val="5B6B65"/>
          </a:solidFill>
          <a:ln>
            <a:solidFill>
              <a:srgbClr val="5B6B6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tk_wup_tsk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00928" y="320040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065520" y="2880360"/>
            <a:ext cx="1219200" cy="640080"/>
          </a:xfrm>
          <a:prstGeom prst="roundRect">
            <a:avLst>
              <a:gd name="adj" fmla="val 11429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ControlTask: actuate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03008" y="320040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467600" y="2880360"/>
            <a:ext cx="1219200" cy="640080"/>
          </a:xfrm>
          <a:prstGeom prst="roundRect">
            <a:avLst>
              <a:gd name="adj" fmla="val 11429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UITask: LCD + UART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TWF_BITCLR clears only the satisfied flag bit, preserving pending flags for other tasks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SensorTask is never blocked by AI inference; extra hardware-facing tasks can later slot in by priority without touching the AI path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no polling: tasks sleep until signalled; watchdog + power management for reliability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MEMORY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architecture and budget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7/21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scaled to 2,048 KiB SRAM (full width) and 8,192 KiB Flash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SRAM: Vela peak arena, L1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6217920" cy="365760"/>
          </a:xfrm>
          <a:prstGeom prst="rect">
            <a:avLst/>
          </a:prstGeom>
          <a:solidFill>
            <a:srgbClr val="DCE9E2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220813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62845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402.1 KiB (19.6%)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SRAM: 2 x 128 KiB arenas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783080"/>
            <a:ext cx="6217920" cy="365760"/>
          </a:xfrm>
          <a:prstGeom prst="rect">
            <a:avLst/>
          </a:prstGeom>
          <a:solidFill>
            <a:srgbClr val="DCE9E2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1783080"/>
            <a:ext cx="777240" cy="3657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319272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KiB coded (12.5%)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Flash: L1 INT8 weights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2286000"/>
            <a:ext cx="6217920" cy="365760"/>
          </a:xfrm>
          <a:prstGeom prst="rect">
            <a:avLst/>
          </a:prstGeom>
          <a:solidFill>
            <a:srgbClr val="DCE9E2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8880" y="2286000"/>
            <a:ext cx="596820" cy="365760"/>
          </a:xfrm>
          <a:prstGeom prst="rect">
            <a:avLst/>
          </a:prstGeom>
          <a:solidFill>
            <a:srgbClr val="1F6F54"/>
          </a:solidFill>
          <a:ln w="12700">
            <a:solidFill>
              <a:srgbClr val="1F6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138852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786.3 KiB (9.6%)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Flash: L1 + L2 weights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788920"/>
            <a:ext cx="6217920" cy="365760"/>
          </a:xfrm>
          <a:prstGeom prst="rect">
            <a:avLst/>
          </a:prstGeom>
          <a:solidFill>
            <a:srgbClr val="DCE9E2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68880" y="2788920"/>
            <a:ext cx="1022025" cy="365760"/>
          </a:xfrm>
          <a:prstGeom prst="rect">
            <a:avLst/>
          </a:prstGeom>
          <a:solidFill>
            <a:srgbClr val="1F6F54"/>
          </a:solidFill>
          <a:ln w="12700">
            <a:solidFill>
              <a:srgbClr val="1F6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564057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1,346.5 KiB (16.4%)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337560"/>
            <a:ext cx="3931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dual-arena design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11880"/>
            <a:ext cx="402336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arena_disease[128 KiB] and arena_days[128 KiB], 16-byte aligned (AXI 128-bit burst to NPU)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buffers stop L1/L2 corrupting each other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383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DF3DC"/>
          </a:solidFill>
          <a:ln>
            <a:solidFill>
              <a:srgbClr val="FDF3DC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429000"/>
            <a:ext cx="384048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 to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 reports a 402.1 KiB peak arena for Layer 1, but the coded arenas are 128 KiB each. Raise the L1 arena (or re-measure) before on-board runs. Both fit easily in 2 MB SRAM.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DATASET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Leakage-free data: 20,623 images, 15 classes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8/21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737360" cy="462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20,623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68526"/>
            <a:ext cx="1645920" cy="353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unique images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2011680"/>
            <a:ext cx="1737360" cy="462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428646"/>
            <a:ext cx="1645920" cy="353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pepper, potato, tomato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971800"/>
            <a:ext cx="1737360" cy="462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388766"/>
            <a:ext cx="1645920" cy="353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(3,209 vs 152)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737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1737360" cy="462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348886"/>
            <a:ext cx="1645920" cy="353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leaves shared across splits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286000" y="960120"/>
          <a:ext cx="2743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5120640" y="96012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2286000" y="3383280"/>
            <a:ext cx="64008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random split: PlantVillage has exact duplicates (md5/dhash purged) and same-leaf day-series (e.g. one leaf over Days 1-16), so random splits leak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leaf ID + capture site; 70 / 15 / 15 stratified by class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handled with normalised sqrt-inverse-frequency weighted sampling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ANTI-SHORTCUT PIPELINE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Forcing the model to read lesions, not backgrounds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9/21</a:t>
            </a:r>
            <a:endParaRPr lang="en-US" sz="800" dirty="0"/>
          </a:p>
        </p:txBody>
      </p:sp>
      <p:pic>
        <p:nvPicPr>
          <p:cNvPr id="5" name="Image 0" descr="/home/claude/img/a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3017520" cy="3730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663440"/>
            <a:ext cx="30175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| mask | BG swap | heavy aug V1 | V2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960120"/>
            <a:ext cx="5029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15 classes come from single photo sessions, so backgrounds leak the label. Fix: segment, swap, randomise.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554480"/>
            <a:ext cx="1154430" cy="502920"/>
          </a:xfrm>
          <a:prstGeom prst="roundRect">
            <a:avLst>
              <a:gd name="adj" fmla="val 14545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ExG = 2G-R-B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30318" y="1805940"/>
            <a:ext cx="10058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949190" y="1554480"/>
            <a:ext cx="1154430" cy="502920"/>
          </a:xfrm>
          <a:prstGeom prst="roundRect">
            <a:avLst>
              <a:gd name="adj" fmla="val 14545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threshold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1908" y="1805940"/>
            <a:ext cx="10058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240780" y="1554480"/>
            <a:ext cx="1154430" cy="502920"/>
          </a:xfrm>
          <a:prstGeom prst="roundRect">
            <a:avLst>
              <a:gd name="adj" fmla="val 14545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13498" y="1805940"/>
            <a:ext cx="10058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532370" y="1554480"/>
            <a:ext cx="1154430" cy="502920"/>
          </a:xfrm>
          <a:prstGeom prst="roundRect">
            <a:avLst>
              <a:gd name="adj" fmla="val 14545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GrabCut refine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2402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leaf masks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260848" y="2491740"/>
            <a:ext cx="10058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379720" y="22402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RandomBackgroundSwap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82968" y="2491740"/>
            <a:ext cx="10058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101840" y="22402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CLAHE, blur, noise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0" y="29718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3657600" y="3017520"/>
            <a:ext cx="155448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98.67%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703320" y="3449574"/>
            <a:ext cx="146304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Leaf-only accuracy (macro-F1 0.9806)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03520" y="29718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303520" y="3017520"/>
            <a:ext cx="155448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21.51%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5349240" y="3449574"/>
            <a:ext cx="146304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Background-only (chance 6.67%)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49440" y="29718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949440" y="3017520"/>
            <a:ext cx="173736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60.63%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995160" y="3449574"/>
            <a:ext cx="164592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capture sites (bal. acc 64.92%)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0" y="3977640"/>
            <a:ext cx="5029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Blacking out the background barely hurts, so lesions drive the prediction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accuracy is the remaining generalisation gap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MODEL DESIGN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1: teacher-to-student knowledge distillation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10/21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 teacher (GPU / edge cloud)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224x224x3 input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75104" y="153162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39696" y="123444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 (768-d)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153162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22192" y="123444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GeM p=3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0096" y="153162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504688" y="123444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BN-neck + Dropout 0.3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22592" y="153162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87184" y="123444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15 classes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14884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Soft-target KL divergence, T = 3.0, alpha = 0.6 (+ label smoothing 0.1)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0" cy="32004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697480"/>
            <a:ext cx="0" cy="36576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 student (Renesas RA8P1 MCU)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160x160x3 input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75104" y="3634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139696" y="333756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0.5, fused ReLU6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3634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822192" y="333756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0096" y="3634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504688" y="333756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15 classes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22592" y="3634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187184" y="3337560"/>
            <a:ext cx="1499616" cy="594360"/>
          </a:xfrm>
          <a:prstGeom prst="roundRect">
            <a:avLst>
              <a:gd name="adj" fmla="val 12308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to Vela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27.83M params (106.2 MB FP32, 4.46 GFLOPs) vs 706,895 params (2.70 MB FP32, 48.96 MMACs): 39.4x fewer parameters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uses ReLU6 and GAP because they map natively to the Ethos-U55; teacher uses GELU + GeM for accuracy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TRAINING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recipe and convergence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11/21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206240" cy="3657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 / arch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convnext_tiny (ImageNet-12k)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mobilenet_v2 x0.5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(3 warmup)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(distill)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wd 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wd 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5e-4 (backbone 0.1x)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annealing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annealing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Heavy: BG swap, CLAHE, noise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BG swap, ColorJitter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Regularisation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DropPath 0.1, Drop 0.3, MixUp/CutMix 0.8, AMP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smoothing 0.1, KD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Image 0" descr="/home/claude/img/curv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05840"/>
            <a:ext cx="3840480" cy="1490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46320" y="2606040"/>
            <a:ext cx="38404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climbs from ~10% (epoch 2) to ~93% (epoch 5) and plateaus near 99% from epoch ~10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validation loss both fall; validation loss floors near 1.51 around epochs 15-17 and drifts up slightly, while accuracy stays flat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losses stay high, consistent with MixUp/CutMix training and the under-confident probabilities on slide 16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divergence between train and validation trends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RESULTS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metrics on 2,710 held-out test images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12/21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760720" cy="38404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99.15% (2687/2710)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96.86% (2625/2710)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Top-3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precision / 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99.23% / 98.37%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96.90% / 96.54%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-2.33 / -1.83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 kappa / MCC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0.9908 / 0.9908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0.9658 / 0.9659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loss / Brier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1.5079 / 0.6494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0.6491 / 0.0531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on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batch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6.05 ms (RTX 4060)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ms (Ethos-U55)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-2.23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Throughput, batch 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468.3 FPS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5,061.3 FPS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0058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vs 85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508760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Misclassifications (A vs B)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92240" y="20574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49224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top-3: correct label almost always in the shortlist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92240" y="3108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0"/>
          <p:cNvSpPr txBox="1"/>
          <p:nvPr/>
        </p:nvSpPr>
        <p:spPr>
          <a:xfrm>
            <a:off x="649224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0.9658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611880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kappa: near-perfect agreement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160520"/>
            <a:ext cx="2194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log loss / Brier on A reflects under-confident probabilities (slide 17), not more errors.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CONFUSION MATRICES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model makes its mistakes (row-normalised)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13/21</a:t>
            </a:r>
            <a:endParaRPr lang="en-US" sz="800" dirty="0"/>
          </a:p>
        </p:txBody>
      </p:sp>
      <p:pic>
        <p:nvPicPr>
          <p:cNvPr id="5" name="Image 0" descr="/home/claude/img/c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4206240" cy="3712464"/>
          </a:xfrm>
          <a:prstGeom prst="rect">
            <a:avLst/>
          </a:prstGeom>
        </p:spPr>
      </p:pic>
      <p:pic>
        <p:nvPicPr>
          <p:cNvPr id="6" name="Image 1" descr="/home/claude/img/c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60120"/>
            <a:ext cx="4206240" cy="37124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4645152"/>
            <a:ext cx="4206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 23 errors, 13 classes &gt;= 98%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4645152"/>
            <a:ext cx="4206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 85 errors, all classes &gt;= 88% recall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|  PER-CLASS F1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 keeps almost every class within a few points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14/21</a:t>
            </a:r>
            <a:endParaRPr lang="en-US" sz="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8412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4023360"/>
            <a:ext cx="1920240" cy="452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-7.4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430268"/>
            <a:ext cx="1828800" cy="345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Spot F1 (worst drop)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1460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514600" y="4023360"/>
            <a:ext cx="1920240" cy="452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-5.7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4430268"/>
            <a:ext cx="1828800" cy="345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 F1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572000" y="4023360"/>
            <a:ext cx="1920240" cy="452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4430268"/>
            <a:ext cx="1828800" cy="345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Healthy (student better)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29400" y="397764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629400" y="4023360"/>
            <a:ext cx="2057400" cy="452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98.77 to 96.71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4430268"/>
            <a:ext cx="1965960" cy="345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Macro-F1, A to B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|  ERROR ANALYSIS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modes: look-alike necrotic lesions dominate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15/21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A: 23 errors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39319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Healthy (23 test images): 3 missed, to Late Blight (2) and Target Spot (1)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 and Target Spot: 3 misses each, mostly with each other and Late Blight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 at 100% precision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B: 85 errors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mode: Tomato Early Blight (18 FN) vs Target Spot (19 FN)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Alternaria rings look like Corynespora necrotic centres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Spot precision 90.1%; 21 false positives each for Spider Mites and Target Spot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still 99.85%: a ranked shortlist is reliable</a:t>
            </a:r>
            <a:endParaRPr lang="en-US" sz="1000" dirty="0"/>
          </a:p>
        </p:txBody>
      </p:sp>
      <p:pic>
        <p:nvPicPr>
          <p:cNvPr id="9" name="Image 0" descr="/home/claude/img/cm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60120"/>
            <a:ext cx="4114800" cy="34290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0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39-class PlantVillage baseline (incl. background class). Largest confusions: Corn Northern Leaf Blight to Cercospora (28), Grape Black Rot to Esca (21), Tomato Early Blight to Septoria (20).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|  EXPLAINABILITY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Grad-CAM: the model looks at lesions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16/21</a:t>
            </a:r>
            <a:endParaRPr lang="en-US" sz="800" dirty="0"/>
          </a:p>
        </p:txBody>
      </p:sp>
      <p:pic>
        <p:nvPicPr>
          <p:cNvPr id="5" name="Image 0" descr="/home/claude/img/g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1920240" cy="3840480"/>
          </a:xfrm>
          <a:prstGeom prst="rect">
            <a:avLst/>
          </a:prstGeom>
        </p:spPr>
      </p:pic>
      <p:pic>
        <p:nvPicPr>
          <p:cNvPr id="6" name="Image 1" descr="/home/claude/img/gc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960120"/>
            <a:ext cx="1920240" cy="3840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heatmaps show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1234440"/>
            <a:ext cx="402336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concentrates on necrotic lesions, chlorotic margins and bacterial specks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bacterial spot: spots along the leaf; Potato early blight: concentric rings; Tomato late blight: expanding water-soaked borders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leaves show diffuse, whole-leaf attention with no lesion hotspot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leaf edges stay cool, matching the spatial ablation (slide 8)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63440" y="34747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4663440" y="3520440"/>
            <a:ext cx="192024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98.67%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709160" y="3952494"/>
            <a:ext cx="182880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Leaf-only accuracy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766560" y="34747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766560" y="3520440"/>
            <a:ext cx="192024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21.51%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3952494"/>
            <a:ext cx="182880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Background-only accuracy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434840"/>
            <a:ext cx="4023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shown for 8 representative test leaves (teacher model).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|  CALIBRATION &amp; OOD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not to trust the prediction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17/21</a:t>
            </a:r>
            <a:endParaRPr lang="en-US" sz="800" dirty="0"/>
          </a:p>
        </p:txBody>
      </p:sp>
      <p:pic>
        <p:nvPicPr>
          <p:cNvPr id="5" name="Image 0" descr="/home/claude/img/r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4572000" cy="1901952"/>
          </a:xfrm>
          <a:prstGeom prst="rect">
            <a:avLst/>
          </a:prstGeom>
        </p:spPr>
      </p:pic>
      <p:pic>
        <p:nvPicPr>
          <p:cNvPr id="6" name="Image 1" descr="/home/claude/img/energ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960120"/>
            <a:ext cx="3566160" cy="22311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scaling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566160"/>
            <a:ext cx="26517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0.5571 (below 1 sharpens)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0.7683 to 0.5338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sit above the diagonal: the model is under-confident, not over-confident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OOD rejection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3566160"/>
            <a:ext cx="26517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E(x) = -T log sum exp(f_c/T)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-1.6006 at 95% TPR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0.9922, FPR95 0.67%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meaning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126480" y="3566160"/>
            <a:ext cx="25603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wheels, hands, weeds get rejected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energy score, not softmax, as the gate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ECE 0.53 still needs work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|  LAYER 2 + DECISION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Cascade: classify, age the lesion, then act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18/21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0058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verdict (energy-gated OOD)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DCE9E2"/>
          </a:solidFill>
          <a:ln>
            <a:solidFill>
              <a:srgbClr val="DCE9E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0 (healthy): bypass L2, log status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0116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&gt; 0: Layer 2 estimates D in days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06324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&lt;= 5.0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6324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>
            <a:solidFill>
              <a:srgbClr val="C0392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&gt; 5.0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0" cy="27432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37360" y="1783080"/>
            <a:ext cx="283464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1783080"/>
            <a:ext cx="0" cy="22860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783080"/>
            <a:ext cx="0" cy="22860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0" cy="22860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54780" y="2788920"/>
            <a:ext cx="123444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54780" y="2788920"/>
            <a:ext cx="0" cy="27432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89220" y="2788920"/>
            <a:ext cx="0" cy="27432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38328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outputs: CMD_TREAT (micro-spray) | CMD_PRUNE (petiole excision)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Lesion stages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234440"/>
            <a:ext cx="246888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d incubation: pinprick chlorosis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 expansion: necrosis, halos, water-soaked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 d collapse: coalesced lesions, sporulation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head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D-hat in [0, 20] days, MobileNet regressor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(int8 - zero_point) x scale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MAE +/-0.62 d; not yet in the report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5486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D &lt;= 5 d tissue is still viable and treatable; older tissue is a sporulation reservoir, so excise it.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|  NPU DEPLOYMENT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PyTorch to Ethos-U55 with zero CPU fallback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19/21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219200" cy="685800"/>
          </a:xfrm>
          <a:prstGeom prst="roundRect">
            <a:avLst>
              <a:gd name="adj" fmla="val 10667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FP32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94688" y="1348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59280" y="1005840"/>
            <a:ext cx="1219200" cy="685800"/>
          </a:xfrm>
          <a:prstGeom prst="roundRect">
            <a:avLst>
              <a:gd name="adj" fmla="val 10667"/>
            </a:avLst>
          </a:prstGeom>
          <a:solidFill>
            <a:srgbClr val="1F6F54"/>
          </a:solidFill>
          <a:ln>
            <a:solidFill>
              <a:srgbClr val="1F6F5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opset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96768" y="1348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61360" y="1005840"/>
            <a:ext cx="1219200" cy="685800"/>
          </a:xfrm>
          <a:prstGeom prst="roundRect">
            <a:avLst>
              <a:gd name="adj" fmla="val 10667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onnx2tf + calibration 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98848" y="1348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63440" y="1005840"/>
            <a:ext cx="1219200" cy="685800"/>
          </a:xfrm>
          <a:prstGeom prst="roundRect">
            <a:avLst>
              <a:gd name="adj" fmla="val 10667"/>
            </a:avLst>
          </a:prstGeom>
          <a:solidFill>
            <a:srgbClr val="2E86AB"/>
          </a:solidFill>
          <a:ln>
            <a:solidFill>
              <a:srgbClr val="2E86A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INT8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00928" y="1348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065520" y="1005840"/>
            <a:ext cx="1219200" cy="68580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Vela ethos-u55-256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03008" y="1348740"/>
            <a:ext cx="146304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67600" y="1005840"/>
            <a:ext cx="1219200" cy="685800"/>
          </a:xfrm>
          <a:prstGeom prst="roundRect">
            <a:avLst>
              <a:gd name="adj" fmla="val 10667"/>
            </a:avLst>
          </a:prstGeom>
          <a:solidFill>
            <a:srgbClr val="0B2B26"/>
          </a:solidFill>
          <a:ln>
            <a:solidFill>
              <a:srgbClr val="0B2B26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model_data.h in Flash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2057400"/>
            <a:ext cx="2651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65/65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539746"/>
            <a:ext cx="2560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on NPU (100%)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20116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246120" y="2057400"/>
            <a:ext cx="2651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2539746"/>
            <a:ext cx="2560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fallback / float ops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20116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035040" y="2057400"/>
            <a:ext cx="2651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402.1 KiB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2539746"/>
            <a:ext cx="2560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SRAM (80% free)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7200" y="3154680"/>
            <a:ext cx="2651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786.3 KiB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637026"/>
            <a:ext cx="2560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in Flash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31089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246120" y="3154680"/>
            <a:ext cx="2651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 ms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291840" y="3637026"/>
            <a:ext cx="2560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latency, 261.6 inf/s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1089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035040" y="3154680"/>
            <a:ext cx="2651760" cy="52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3637026"/>
            <a:ext cx="2560320" cy="403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compute-bound cycles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an indicative Vela estimate at 500 MHz; confirm on the board. Weights are compressed and run directly from on-chip Flash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|  RESOURCE BUDGET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layers together fit with wide headroom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20/21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042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1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 regressor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RA8P1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706,895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1,248,995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(INT8)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786.3 KiB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560.2 KiB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1,346.5 KiB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 KiB (84% free)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 arena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KiB coded (Vela 402.1)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KiB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KiB coded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 KiB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2.95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6.77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&gt;140 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 compute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223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204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3566160"/>
            <a:ext cx="196596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6.77 ms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998214"/>
            <a:ext cx="187452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dual-stage inference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560320" y="3566160"/>
            <a:ext cx="196596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~148 FPS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3998214"/>
            <a:ext cx="187452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6.77 ms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35204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63440" y="3566160"/>
            <a:ext cx="196596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3998214"/>
            <a:ext cx="187452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used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35204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9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766560" y="3566160"/>
            <a:ext cx="1965960" cy="47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812280" y="3998214"/>
            <a:ext cx="1874520" cy="364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used (coded arenas)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figures come from the design draft (not the evaluation report); re-measure after final quantisation.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|  CONCLUSIONS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built, what is left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86460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AgriEdge AI  |  21/21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265176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99.15% teacher, 96.86% student accuracy on a leaf-grouped, leakage-free test set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39.4x compression, 100% NPU offload, 402.1 KiB SRAM, 3.82 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OOD gate: AUROC 0.9922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vs. Prune closed loop on µT-Kernel 3.0, fully offline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8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325880"/>
            <a:ext cx="265176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accuracy 60.63%: needs field-photo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ECE still 0.53 after scaling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L1 arena to Vela peak (402.1 KiB)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Layer 2 (MAE) and on-board latency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 vs Target Spot confusion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D1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325880"/>
            <a:ext cx="265176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On-kit flashing and UART/LCD verification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on-board latency and Layer 2 accuracy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code, models, docs on GitHub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3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attach sensors, motion and actuators via the same task interfaces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Atanu Jana, Snehal Panda, Jagan Swain, Manoswini Nahak, Arpita Sahu  |  Mentor: Dr. Sandipan Mallik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2807</Words>
  <Application>Microsoft Office PowerPoint</Application>
  <PresentationFormat>On-screen Show (16:9)</PresentationFormat>
  <Paragraphs>481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AgriEdge AI Bot - Research &amp; System Deck</dc:title>
  <dc:subject>PptxGenJS Presentation</dc:subject>
  <dc:creator>PptxGenJS</dc:creator>
  <cp:lastModifiedBy>Jagan Kumar Swain</cp:lastModifiedBy>
  <cp:revision>1</cp:revision>
  <dcterms:created xsi:type="dcterms:W3CDTF">2026-09-29T18:34:49Z</dcterms:created>
  <dcterms:modified xsi:type="dcterms:W3CDTF">2026-09-29T18:57:41Z</dcterms:modified>
</cp:coreProperties>
</file>